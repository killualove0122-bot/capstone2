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ko-KR"/>
    </a:defPPr>
    <a:lvl1pPr marL="0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46E"/>
    <a:srgbClr val="312D8B"/>
    <a:srgbClr val="3F39B1"/>
    <a:srgbClr val="A93B3B"/>
    <a:srgbClr val="95C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360" y="-52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9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10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91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5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4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89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05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01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72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1150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A7D76-C5AD-49FE-B3DB-6D53FCB4044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EB9E5-41EA-4D47-8EFF-12B2A8783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4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/>
          <p:cNvCxnSpPr/>
          <p:nvPr/>
        </p:nvCxnSpPr>
        <p:spPr>
          <a:xfrm>
            <a:off x="10812024" y="14228083"/>
            <a:ext cx="0" cy="9694598"/>
          </a:xfrm>
          <a:prstGeom prst="line">
            <a:avLst/>
          </a:prstGeom>
          <a:ln w="101600">
            <a:solidFill>
              <a:srgbClr val="2824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887359" y="19112661"/>
            <a:ext cx="19550717" cy="65393"/>
          </a:xfrm>
          <a:prstGeom prst="line">
            <a:avLst/>
          </a:prstGeom>
          <a:ln w="101600">
            <a:solidFill>
              <a:srgbClr val="2824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134073" y="867992"/>
            <a:ext cx="8621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>
              <a:defRPr sz="1600" b="1">
                <a:solidFill>
                  <a:srgbClr val="475569"/>
                </a:solidFill>
                <a:latin typeface="Malgun Gothic"/>
              </a:defRPr>
            </a:pPr>
            <a:r>
              <a:t>2026 공간정보캡스톤디자인 졸업작품전</a:t>
            </a:r>
            <a:endParaRPr lang="en-US" altLang="ko-KR" sz="24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-1943100" y="1638300"/>
            <a:ext cx="24307800" cy="0"/>
          </a:xfrm>
          <a:prstGeom prst="line">
            <a:avLst/>
          </a:prstGeom>
          <a:ln w="317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/>
          <p:cNvGrpSpPr/>
          <p:nvPr/>
        </p:nvGrpSpPr>
        <p:grpSpPr>
          <a:xfrm>
            <a:off x="802500" y="-1750649"/>
            <a:ext cx="3960000" cy="6456000"/>
            <a:chOff x="2171700" y="0"/>
            <a:chExt cx="3960000" cy="6456000"/>
          </a:xfrm>
        </p:grpSpPr>
        <p:sp>
          <p:nvSpPr>
            <p:cNvPr id="15" name="직사각형 14"/>
            <p:cNvSpPr/>
            <p:nvPr/>
          </p:nvSpPr>
          <p:spPr>
            <a:xfrm>
              <a:off x="2171700" y="0"/>
              <a:ext cx="3960000" cy="4419600"/>
            </a:xfrm>
            <a:prstGeom prst="rect">
              <a:avLst/>
            </a:prstGeom>
            <a:solidFill>
              <a:srgbClr val="282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2171700" y="2496000"/>
              <a:ext cx="3960000" cy="3960000"/>
            </a:xfrm>
            <a:prstGeom prst="ellipse">
              <a:avLst/>
            </a:prstGeom>
            <a:solidFill>
              <a:srgbClr val="282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" name="직선 연결선 18"/>
          <p:cNvCxnSpPr/>
          <p:nvPr/>
        </p:nvCxnSpPr>
        <p:spPr>
          <a:xfrm>
            <a:off x="5524500" y="2019300"/>
            <a:ext cx="16230600" cy="0"/>
          </a:xfrm>
          <a:prstGeom prst="line">
            <a:avLst/>
          </a:prstGeom>
          <a:ln w="63500">
            <a:solidFill>
              <a:srgbClr val="3F39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7834312" y="2324100"/>
            <a:ext cx="16230600" cy="0"/>
          </a:xfrm>
          <a:prstGeom prst="line">
            <a:avLst/>
          </a:prstGeom>
          <a:ln w="63500">
            <a:solidFill>
              <a:srgbClr val="2824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/>
          <p:cNvGrpSpPr/>
          <p:nvPr/>
        </p:nvGrpSpPr>
        <p:grpSpPr>
          <a:xfrm>
            <a:off x="2038028" y="1700717"/>
            <a:ext cx="1488944" cy="2346639"/>
            <a:chOff x="2038028" y="1700717"/>
            <a:chExt cx="1488944" cy="2346639"/>
          </a:xfrm>
        </p:grpSpPr>
        <p:grpSp>
          <p:nvGrpSpPr>
            <p:cNvPr id="35" name="그룹 34"/>
            <p:cNvGrpSpPr/>
            <p:nvPr/>
          </p:nvGrpSpPr>
          <p:grpSpPr>
            <a:xfrm>
              <a:off x="2038028" y="1700717"/>
              <a:ext cx="1488944" cy="2346639"/>
              <a:chOff x="1857157" y="1227574"/>
              <a:chExt cx="1850685" cy="2757365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2277123" y="1227574"/>
                <a:ext cx="1010753" cy="581129"/>
              </a:xfrm>
              <a:prstGeom prst="rect">
                <a:avLst/>
              </a:pr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6" name="직선 연결선 25"/>
              <p:cNvCxnSpPr>
                <a:stCxn id="24" idx="2"/>
              </p:cNvCxnSpPr>
              <p:nvPr/>
            </p:nvCxnSpPr>
            <p:spPr>
              <a:xfrm>
                <a:off x="2782500" y="1808703"/>
                <a:ext cx="0" cy="2176236"/>
              </a:xfrm>
              <a:prstGeom prst="line">
                <a:avLst/>
              </a:prstGeom>
              <a:ln w="1016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>
                <a:stCxn id="24" idx="2"/>
              </p:cNvCxnSpPr>
              <p:nvPr/>
            </p:nvCxnSpPr>
            <p:spPr>
              <a:xfrm>
                <a:off x="2782500" y="1808703"/>
                <a:ext cx="925342" cy="1668027"/>
              </a:xfrm>
              <a:prstGeom prst="line">
                <a:avLst/>
              </a:prstGeom>
              <a:ln w="1016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>
                <a:stCxn id="24" idx="2"/>
              </p:cNvCxnSpPr>
              <p:nvPr/>
            </p:nvCxnSpPr>
            <p:spPr>
              <a:xfrm flipH="1">
                <a:off x="1857157" y="1808703"/>
                <a:ext cx="925343" cy="1668027"/>
              </a:xfrm>
              <a:prstGeom prst="line">
                <a:avLst/>
              </a:prstGeom>
              <a:ln w="1016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직사각형 35"/>
            <p:cNvSpPr/>
            <p:nvPr/>
          </p:nvSpPr>
          <p:spPr>
            <a:xfrm>
              <a:off x="3189094" y="1808703"/>
              <a:ext cx="337878" cy="291402"/>
            </a:xfrm>
            <a:prstGeom prst="rect">
              <a:avLst/>
            </a:pr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375094" y="5645936"/>
            <a:ext cx="20420132" cy="4119483"/>
            <a:chOff x="256400" y="4724400"/>
            <a:chExt cx="20420132" cy="4119483"/>
          </a:xfrm>
        </p:grpSpPr>
        <p:sp>
          <p:nvSpPr>
            <p:cNvPr id="51" name="직사각형 50"/>
            <p:cNvSpPr/>
            <p:nvPr/>
          </p:nvSpPr>
          <p:spPr>
            <a:xfrm>
              <a:off x="304800" y="5848350"/>
              <a:ext cx="20371732" cy="2995533"/>
            </a:xfrm>
            <a:prstGeom prst="rect">
              <a:avLst/>
            </a:prstGeom>
            <a:noFill/>
            <a:ln w="101600" cmpd="thickThin">
              <a:solidFill>
                <a:srgbClr val="3F3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56400" y="4724400"/>
              <a:ext cx="7030800" cy="1080000"/>
            </a:xfrm>
            <a:prstGeom prst="rect">
              <a:avLst/>
            </a:prstGeom>
            <a:solidFill>
              <a:srgbClr val="3F3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32352" y="4752263"/>
              <a:ext cx="650530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0" dirty="0">
                  <a:solidFill>
                    <a:schemeClr val="bg1"/>
                  </a:solidFill>
                  <a:latin typeface="+mj-ea"/>
                  <a:ea typeface="+mj-ea"/>
                </a:rPr>
                <a:t>01. </a:t>
              </a:r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배경 및 문제 정의</a:t>
              </a:r>
            </a:p>
          </p:txBody>
        </p:sp>
        <p:sp>
          <p:nvSpPr>
            <p:cNvPr id="53" name="직각 삼각형 52"/>
            <p:cNvSpPr/>
            <p:nvPr/>
          </p:nvSpPr>
          <p:spPr>
            <a:xfrm>
              <a:off x="7278687" y="4724400"/>
              <a:ext cx="1080000" cy="1080000"/>
            </a:xfrm>
            <a:prstGeom prst="rtTriangle">
              <a:avLst/>
            </a:prstGeom>
            <a:solidFill>
              <a:srgbClr val="282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459194" y="10493309"/>
            <a:ext cx="20336032" cy="13690077"/>
            <a:chOff x="269100" y="4724400"/>
            <a:chExt cx="20336032" cy="13690077"/>
          </a:xfrm>
        </p:grpSpPr>
        <p:sp>
          <p:nvSpPr>
            <p:cNvPr id="57" name="직사각형 56"/>
            <p:cNvSpPr/>
            <p:nvPr/>
          </p:nvSpPr>
          <p:spPr>
            <a:xfrm>
              <a:off x="304800" y="5848348"/>
              <a:ext cx="20300332" cy="12566129"/>
            </a:xfrm>
            <a:prstGeom prst="rect">
              <a:avLst/>
            </a:prstGeom>
            <a:noFill/>
            <a:ln w="101600" cmpd="thickThin">
              <a:solidFill>
                <a:srgbClr val="3F3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100" y="4724400"/>
              <a:ext cx="7030800" cy="1080000"/>
            </a:xfrm>
            <a:prstGeom prst="rect">
              <a:avLst/>
            </a:prstGeom>
            <a:solidFill>
              <a:srgbClr val="3F3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642157" y="4752263"/>
              <a:ext cx="6285695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0" dirty="0">
                  <a:solidFill>
                    <a:schemeClr val="bg1"/>
                  </a:solidFill>
                  <a:latin typeface="+mj-ea"/>
                  <a:ea typeface="+mj-ea"/>
                </a:rPr>
                <a:t>02. </a:t>
              </a:r>
              <a:r>
                <a:rPr lang="ko-KR" altLang="en-US" sz="4880" dirty="0">
                  <a:solidFill>
                    <a:schemeClr val="bg1"/>
                  </a:solidFill>
                  <a:latin typeface="+mj-ea"/>
                  <a:ea typeface="+mj-ea"/>
                </a:rPr>
                <a:t>해결방안 및 과정</a:t>
              </a:r>
            </a:p>
          </p:txBody>
        </p:sp>
        <p:sp>
          <p:nvSpPr>
            <p:cNvPr id="60" name="직각 삼각형 59"/>
            <p:cNvSpPr/>
            <p:nvPr/>
          </p:nvSpPr>
          <p:spPr>
            <a:xfrm>
              <a:off x="7291387" y="4724400"/>
              <a:ext cx="1080000" cy="1080000"/>
            </a:xfrm>
            <a:prstGeom prst="rtTriangle">
              <a:avLst/>
            </a:prstGeom>
            <a:solidFill>
              <a:srgbClr val="282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453160" y="24821197"/>
            <a:ext cx="20371732" cy="3426589"/>
            <a:chOff x="269100" y="4724400"/>
            <a:chExt cx="20371732" cy="2873063"/>
          </a:xfrm>
        </p:grpSpPr>
        <p:sp>
          <p:nvSpPr>
            <p:cNvPr id="62" name="직사각형 61"/>
            <p:cNvSpPr/>
            <p:nvPr/>
          </p:nvSpPr>
          <p:spPr>
            <a:xfrm>
              <a:off x="304800" y="5873082"/>
              <a:ext cx="20336032" cy="1724381"/>
            </a:xfrm>
            <a:prstGeom prst="rect">
              <a:avLst/>
            </a:prstGeom>
            <a:noFill/>
            <a:ln w="101600" cmpd="thickThin">
              <a:solidFill>
                <a:srgbClr val="3F3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269100" y="4724400"/>
              <a:ext cx="7030800" cy="1080000"/>
            </a:xfrm>
            <a:prstGeom prst="rect">
              <a:avLst/>
            </a:prstGeom>
            <a:solidFill>
              <a:srgbClr val="3F3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42156" y="4826802"/>
              <a:ext cx="6285695" cy="8515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0" dirty="0">
                  <a:solidFill>
                    <a:schemeClr val="bg1"/>
                  </a:solidFill>
                  <a:latin typeface="+mj-ea"/>
                  <a:ea typeface="+mj-ea"/>
                </a:rPr>
                <a:t>03. </a:t>
              </a:r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결과 및 기대효과</a:t>
              </a:r>
            </a:p>
          </p:txBody>
        </p:sp>
        <p:sp>
          <p:nvSpPr>
            <p:cNvPr id="65" name="직각 삼각형 64"/>
            <p:cNvSpPr/>
            <p:nvPr/>
          </p:nvSpPr>
          <p:spPr>
            <a:xfrm>
              <a:off x="7291387" y="4724400"/>
              <a:ext cx="1080000" cy="1080000"/>
            </a:xfrm>
            <a:prstGeom prst="rtTriangle">
              <a:avLst/>
            </a:prstGeom>
            <a:solidFill>
              <a:srgbClr val="282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6" name="직선 연결선 65"/>
          <p:cNvCxnSpPr/>
          <p:nvPr/>
        </p:nvCxnSpPr>
        <p:spPr>
          <a:xfrm>
            <a:off x="-1943100" y="29946600"/>
            <a:ext cx="24307800" cy="0"/>
          </a:xfrm>
          <a:prstGeom prst="line">
            <a:avLst/>
          </a:prstGeom>
          <a:ln w="317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1397000" y="30275213"/>
            <a:ext cx="16230600" cy="0"/>
          </a:xfrm>
          <a:prstGeom prst="line">
            <a:avLst/>
          </a:prstGeom>
          <a:ln w="63500">
            <a:solidFill>
              <a:srgbClr val="2824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3708400" y="29210000"/>
            <a:ext cx="16230600" cy="0"/>
          </a:xfrm>
          <a:prstGeom prst="line">
            <a:avLst/>
          </a:prstGeom>
          <a:ln w="63500">
            <a:solidFill>
              <a:srgbClr val="3F39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572000" y="2921000"/>
            <a:ext cx="16256000" cy="915122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827"/>
                </a:solidFill>
                <a:latin typeface="Malgun Gothic"/>
              </a:defRPr>
            </a:pPr>
            <a:r>
              <a:t>위성 데이터 기반 산불 피해(dNBR) 실시간 비교 분석 및 탐색 시스템</a:t>
            </a:r>
            <a:endParaRPr sz="4800" b="1" dirty="0"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500" y="7112000"/>
            <a:ext cx="18796000" cy="1709186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 marL="571500" indent="-5715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국내 대형 산불 사례 및 위험성 증가: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2022년 울진·삼척 산불(16,302 ha), 2022년 강릉·동해 옥계 산불(4,000 ha), 2019년 고성 산불(1,260 ha) 등 동해안 및 전국 단위 대형 산불 발생 주기가 단축되고 있으며, 산림 파괴와 인명·재산 피해 규모가 사상 최대를 기록함.</a:t>
            </a:r>
            <a:endParaRPr lang="en-US" altLang="ko-KR" sz="2000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기존 현장 피해 조사의 한계 및 비용 소요: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산림청 및 지자체의 기존 산불 피해 조사는 현장 인력 투입 및 항공 촬영 후 물리적 현장 정밀 조사 방식으로 진행되어, 전체 피해 구역을 파악하는 데 수주일~수개월의 긴 시간과 막대한 행정력·예산이 소요됨.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실시간 위성 기반 dNBR 자동 분석의 필요성: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신속한 긴급 재해 복구 계획 수립을 위해 근적외선(NIR)과 단파적외선(SWIR) 광학 위성 밴드를 활용해 dNBR(차분 정규 탄화 지수)을 1초 만에 자동 연산하고 누구나 웹에서 손쉽게 시각적으로 확인할 수 있는 공공 공간정보 시스템 구축이 시급함.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1397000" y="11726216"/>
            <a:ext cx="18542000" cy="1812713"/>
            <a:chOff x="1397000" y="11874500"/>
            <a:chExt cx="18542000" cy="1812713"/>
          </a:xfrm>
        </p:grpSpPr>
        <p:sp>
          <p:nvSpPr>
            <p:cNvPr id="47" name="TextBox 46"/>
            <p:cNvSpPr txBox="1"/>
            <p:nvPr/>
          </p:nvSpPr>
          <p:spPr>
            <a:xfrm>
              <a:off x="1397000" y="11874500"/>
              <a:ext cx="18542000" cy="542713"/>
            </a:xfrm>
            <a:prstGeom prst="rect">
              <a:avLst/>
            </a:prstGeom>
            <a:noFill/>
          </p:spPr>
          <p:txBody>
            <a:bodyPr wrap="square" lIns="50800" tIns="50800" rIns="50800" bIns="5080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00" b="1">
                  <a:solidFill>
                    <a:srgbClr val="1E293B"/>
                  </a:solidFill>
                  <a:latin typeface="Malgun Gothic"/>
                </a:defRPr>
              </a:pPr>
              <a:r>
                <a:t>▪ Microsoft Planetary Computer STAC API를 활용해 Sentinel-2 / Landsat-8,9 위성 영상 자동 검색 및 수신</a:t>
              </a:r>
              <a:endParaRPr sz="2600" b="1" dirty="0">
                <a:solidFill>
                  <a:srgbClr val="0A192F"/>
                </a:solidFill>
                <a:latin typeface="맑은 고딕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97000" y="13144500"/>
              <a:ext cx="18542000" cy="542713"/>
            </a:xfrm>
            <a:prstGeom prst="rect">
              <a:avLst/>
            </a:prstGeom>
            <a:noFill/>
          </p:spPr>
          <p:txBody>
            <a:bodyPr wrap="square" lIns="50800" tIns="50800" rIns="50800" bIns="5080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00" b="1">
                  <a:solidFill>
                    <a:srgbClr val="1E293B"/>
                  </a:solidFill>
                  <a:latin typeface="Malgun Gothic"/>
                </a:defRPr>
              </a:pPr>
              <a:r>
                <a:t>▪ dNBR(차분 정규 탄화 지수) 알고리즘 및 Titiler EPSG:4326 WGS84 재투영 기술로 완벽한 지도 정렬 구현</a:t>
              </a:r>
              <a:endParaRPr lang="en-US" altLang="ko-KR" sz="3600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016000" y="14287500"/>
            <a:ext cx="4699000" cy="3756028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(1) STAC API 위성 영상 탐색: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사용자 선택 지역(위도·경도) 및 산불 일자 기준 전/후 35일 내 구름 40% 미만 최적 Sentinel-2 (B08, B12) &amp; Landsat (NIR08, SWIR22) 광학 위성 영상 자동 검색 및 수신.</a:t>
            </a:r>
            <a:endParaRPr sz="1900" b="1" dirty="0" smtClean="0">
              <a:solidFill>
                <a:srgbClr val="003366"/>
              </a:solidFill>
              <a:latin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319500" y="14287500"/>
            <a:ext cx="4318000" cy="1613006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(2) dNBR 연산 &amp; 6단계 분류: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정상일/산불일 NBR 지수 NBR=(NIR-SWIR)/(NIR+SWIR) 연산 후 dNBR=(NBR_pre - NBR_post)*1000 공식으로 USGS 표준 6단계 피해 면적(ha, km²) 자동 산출.</a:t>
            </a:r>
            <a:endParaRPr sz="1900" b="1" dirty="0" smtClean="0">
              <a:solidFill>
                <a:srgbClr val="003366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6000" y="19431000"/>
            <a:ext cx="4699000" cy="1938608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(3) Titiler EPSG:4326 지도 정렬: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위성 궤도 좌표계(UTM)로 인한 지도 어긋남 방지를 위해 Titiler API 기반 WGS84(EPSG:4326) 실시간 재투영 및 BBOX Crop을 적용하여 배경 위성 지도와 1:1 완벽 정렬.</a:t>
            </a:r>
            <a:endParaRPr sz="1900" b="1" dirty="0">
              <a:solidFill>
                <a:srgbClr val="003366"/>
              </a:solidFill>
              <a:latin typeface="맑은 고딕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6319500" y="19431000"/>
            <a:ext cx="4318000" cy="4318000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(4) 이중 지도 비교 &amp; 리포트 내보내기: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Leaflet.js 기반 단일/분할 동기화 지도 UI로 정상일 vs 산불일 피해 영역을 직관적 비교하고, Chart.js 통계 차트 및 CSV 내보내기, 인쇄 리포트 자동 생성 기능 구현.</a:t>
            </a:r>
            <a:endParaRPr lang="en-US" altLang="ko-KR" sz="3200" dirty="0"/>
          </a:p>
        </p:txBody>
      </p:sp>
      <p:sp>
        <p:nvSpPr>
          <p:cNvPr id="71" name="TextBox 70"/>
          <p:cNvSpPr txBox="1"/>
          <p:nvPr/>
        </p:nvSpPr>
        <p:spPr>
          <a:xfrm>
            <a:off x="952500" y="26254670"/>
            <a:ext cx="18796000" cy="2091726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산불 피해 조사 속도 및 행정 효율성 혁신: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수주일 이상 소요되던 산불 피해 구역 정량 조사 과정을 단 1초 만에 자동화하여, 산림청·소방청·지자체의 초기 긴급 재해 복구 예산 산정 및 피해 구역 스크리닝 시간을 99% 이상 단축.</a:t>
            </a:r>
            <a:endParaRPr lang="ko-KR" altLang="en-US" sz="3600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위성 공간정보 접근성 대중화 및 공공 활용 극대화: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고가의 전문 GIS 프로그램(ArcGIS, QGIS 등) 설치 없이 일반 시민, 연구자, 정책 담당자 누구나 웹 브라우저에서 클릭 몇 번만으로 정밀 위성 dNBR 분석을 수행할 수 있는 무설치 웹 표준 환경 제공.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▪ 산림 재난 복구 및 기후변화 대응 정책 수립 지원: </a:t>
            </a:r>
            <a:r>
              <a:rPr sz="1200" b="0">
                <a:solidFill>
                  <a:srgbClr val="334155"/>
                </a:solidFill>
                <a:latin typeface="Malgun Gothic"/>
              </a:rPr>
              <a:t>6단계 심각도별 정확한 면적(ha, km²) 데이터와 CSV 내보내기 기능을 통해 조림 식재 우선순위 구획, 토사 유출 및 2차 산사태 위험 지역 파악 등 과학적이고 정량적인 산림 생태계 복구 전략 수립에 기여.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9029680" y="5867357"/>
            <a:ext cx="12257705" cy="609630"/>
            <a:chOff x="13316961" y="6003396"/>
            <a:chExt cx="7649052" cy="565943"/>
          </a:xfrm>
        </p:grpSpPr>
        <p:grpSp>
          <p:nvGrpSpPr>
            <p:cNvPr id="8" name="그룹 7"/>
            <p:cNvGrpSpPr/>
            <p:nvPr/>
          </p:nvGrpSpPr>
          <p:grpSpPr>
            <a:xfrm>
              <a:off x="16847465" y="6003396"/>
              <a:ext cx="4118548" cy="551398"/>
              <a:chOff x="15109727" y="5697437"/>
              <a:chExt cx="4046947" cy="551398"/>
            </a:xfrm>
          </p:grpSpPr>
          <p:sp>
            <p:nvSpPr>
              <p:cNvPr id="38" name="모서리가 둥근 직사각형 37"/>
              <p:cNvSpPr/>
              <p:nvPr/>
            </p:nvSpPr>
            <p:spPr>
              <a:xfrm>
                <a:off x="15109727" y="5697437"/>
                <a:ext cx="1282605" cy="551398"/>
              </a:xfrm>
              <a:prstGeom prst="roundRect">
                <a:avLst/>
              </a:prstGeom>
              <a:solidFill>
                <a:srgbClr val="312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dirty="0"/>
                  <a:t>팀    원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16420960" y="5765823"/>
                <a:ext cx="2735714" cy="42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400" b="1" dirty="0" smtClean="0">
                    <a:solidFill>
                      <a:srgbClr val="141414"/>
                    </a:solidFill>
                    <a:latin typeface="맑은 고딕"/>
                  </a:rPr>
                  <a:t>박세진</a:t>
                </a:r>
                <a:r>
                  <a:rPr sz="2400" b="1" dirty="0" smtClean="0">
                    <a:solidFill>
                      <a:srgbClr val="141414"/>
                    </a:solidFill>
                    <a:latin typeface="맑은 고딕"/>
                  </a:rPr>
                  <a:t>,</a:t>
                </a:r>
                <a:r>
                  <a:rPr lang="ko-KR" altLang="en-US" sz="2400" b="1" dirty="0" smtClean="0">
                    <a:solidFill>
                      <a:srgbClr val="141414"/>
                    </a:solidFill>
                    <a:latin typeface="맑은 고딕"/>
                  </a:rPr>
                  <a:t>김병주</a:t>
                </a:r>
                <a:r>
                  <a:rPr lang="en-US" altLang="ko-KR" sz="2400" b="1" dirty="0" smtClean="0">
                    <a:solidFill>
                      <a:srgbClr val="141414"/>
                    </a:solidFill>
                    <a:latin typeface="맑은 고딕"/>
                  </a:rPr>
                  <a:t>,</a:t>
                </a:r>
                <a:r>
                  <a:rPr lang="ko-KR" altLang="en-US" sz="2400" b="1" dirty="0" smtClean="0">
                    <a:solidFill>
                      <a:srgbClr val="141414"/>
                    </a:solidFill>
                    <a:latin typeface="맑은 고딕"/>
                  </a:rPr>
                  <a:t>윤홍빈</a:t>
                </a:r>
                <a:endParaRPr sz="2400" b="1" dirty="0">
                  <a:solidFill>
                    <a:srgbClr val="141414"/>
                  </a:solidFill>
                  <a:latin typeface="맑은 고딕"/>
                </a:endParaRPr>
              </a:p>
            </p:txBody>
          </p:sp>
        </p:grpSp>
        <p:sp>
          <p:nvSpPr>
            <p:cNvPr id="73" name="모서리가 둥근 직사각형 72"/>
            <p:cNvSpPr/>
            <p:nvPr/>
          </p:nvSpPr>
          <p:spPr>
            <a:xfrm>
              <a:off x="13316961" y="6017941"/>
              <a:ext cx="1860912" cy="551398"/>
            </a:xfrm>
            <a:prstGeom prst="roundRect">
              <a:avLst/>
            </a:prstGeom>
            <a:solidFill>
              <a:srgbClr val="312D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/>
                <a:t>지  도  교  수</a:t>
              </a:r>
              <a:endParaRPr lang="ko-KR" altLang="en-US" sz="2000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5227171" y="6061709"/>
              <a:ext cx="2784116" cy="42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이  용  호  교수</a:t>
              </a: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1397000" y="12509500"/>
            <a:ext cx="18542000" cy="542713"/>
          </a:xfrm>
          <a:prstGeom prst="rect">
            <a:avLst/>
          </a:prstGeom>
          <a:noFill/>
        </p:spPr>
        <p:txBody>
          <a:bodyPr wrap="square" lIns="50800" tIns="50800" rIns="50800" bIns="50800" rtlCol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dirty="0">
                <a:solidFill>
                  <a:srgbClr val="0A192F"/>
                </a:solidFill>
                <a:latin typeface="맑은 고딕"/>
              </a:rPr>
              <a:t>▪ </a:t>
            </a:r>
            <a:r>
              <a:rPr lang="ko-KR" altLang="en-US" sz="2600" b="1" dirty="0" smtClean="0">
                <a:solidFill>
                  <a:srgbClr val="0A192F"/>
                </a:solidFill>
                <a:latin typeface="맑은 고딕"/>
              </a:rPr>
              <a:t>국토데이터 </a:t>
            </a:r>
            <a:r>
              <a:rPr lang="en-US" altLang="ko-KR" sz="2600" b="1" dirty="0" smtClean="0">
                <a:solidFill>
                  <a:srgbClr val="0A192F"/>
                </a:solidFill>
                <a:latin typeface="맑은 고딕"/>
              </a:rPr>
              <a:t>API</a:t>
            </a:r>
            <a:r>
              <a:rPr lang="ko-KR" altLang="en-US" sz="2600" b="1" dirty="0" smtClean="0">
                <a:solidFill>
                  <a:srgbClr val="0A192F"/>
                </a:solidFill>
                <a:latin typeface="맑은 고딕"/>
              </a:rPr>
              <a:t>를 활용해 건축물대장 </a:t>
            </a:r>
            <a:r>
              <a:rPr lang="ko-KR" altLang="en-US" sz="2600" b="1" dirty="0" err="1" smtClean="0">
                <a:solidFill>
                  <a:srgbClr val="0A192F"/>
                </a:solidFill>
                <a:latin typeface="맑은 고딕"/>
              </a:rPr>
              <a:t>표제부</a:t>
            </a:r>
            <a:r>
              <a:rPr lang="ko-KR" altLang="en-US" sz="2600" b="1" dirty="0" smtClean="0">
                <a:solidFill>
                  <a:srgbClr val="0A192F"/>
                </a:solidFill>
                <a:latin typeface="맑은 고딕"/>
              </a:rPr>
              <a:t> 연동 </a:t>
            </a:r>
            <a:endParaRPr lang="en-US" altLang="ko-KR" sz="3600" dirty="0"/>
          </a:p>
        </p:txBody>
      </p:sp>
      <p:pic>
        <p:nvPicPr>
          <p:cNvPr id="76" name="Picture 75" descr="quad1_stac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264640"/>
            <a:ext cx="10058400" cy="3840480"/>
          </a:xfrm>
          <a:prstGeom prst="rect">
            <a:avLst/>
          </a:prstGeom>
        </p:spPr>
      </p:pic>
      <p:pic>
        <p:nvPicPr>
          <p:cNvPr id="77" name="Picture 76" descr="quad2_dnbr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385280"/>
            <a:ext cx="10058400" cy="3840480"/>
          </a:xfrm>
          <a:prstGeom prst="rect">
            <a:avLst/>
          </a:prstGeom>
        </p:spPr>
      </p:pic>
      <p:pic>
        <p:nvPicPr>
          <p:cNvPr id="78" name="Picture 77" descr="quad3_map_al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0" y="16002000"/>
            <a:ext cx="4389120" cy="2926080"/>
          </a:xfrm>
          <a:prstGeom prst="rect">
            <a:avLst/>
          </a:prstGeom>
        </p:spPr>
      </p:pic>
      <p:pic>
        <p:nvPicPr>
          <p:cNvPr id="79" name="Picture 78" descr="quad4_app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0" y="20848320"/>
            <a:ext cx="438912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7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872</TotalTime>
  <Words>424</Words>
  <Application>Microsoft Office PowerPoint</Application>
  <PresentationFormat>사용자 지정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59</cp:revision>
  <cp:lastPrinted>2022-10-05T05:29:07Z</cp:lastPrinted>
  <dcterms:created xsi:type="dcterms:W3CDTF">2021-10-06T08:09:33Z</dcterms:created>
  <dcterms:modified xsi:type="dcterms:W3CDTF">2026-09-09T02:26:24Z</dcterms:modified>
</cp:coreProperties>
</file>